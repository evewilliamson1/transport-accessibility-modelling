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Roboto" panose="02000000000000000000" pitchFamily="2" charset="0"/>
      <p:regular r:id="rId10"/>
    </p:embeddedFont>
    <p:embeddedFont>
      <p:font typeface="Roboto Bold" panose="02000000000000000000" charset="0"/>
      <p:regular r:id="rId11"/>
    </p:embeddedFont>
    <p:embeddedFont>
      <p:font typeface="Roboto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8" d="100"/>
          <a:sy n="38" d="100"/>
        </p:scale>
        <p:origin x="588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3" Type="http://schemas.openxmlformats.org/officeDocument/2006/relationships/image" Target="../media/image2.svg"/><Relationship Id="rId21" Type="http://schemas.openxmlformats.org/officeDocument/2006/relationships/image" Target="../media/image25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10" Type="http://schemas.openxmlformats.org/officeDocument/2006/relationships/image" Target="../media/image14.svg"/><Relationship Id="rId19" Type="http://schemas.openxmlformats.org/officeDocument/2006/relationships/image" Target="../media/image23.sv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sv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svg"/><Relationship Id="rId7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621114">
            <a:off x="-6849822" y="-1512783"/>
            <a:ext cx="12676189" cy="3497067"/>
            <a:chOff x="0" y="0"/>
            <a:chExt cx="3338585" cy="921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8585" cy="921038"/>
            </a:xfrm>
            <a:custGeom>
              <a:avLst/>
              <a:gdLst/>
              <a:ahLst/>
              <a:cxnLst/>
              <a:rect l="l" t="t" r="r" b="b"/>
              <a:pathLst>
                <a:path w="3338585" h="921038">
                  <a:moveTo>
                    <a:pt x="0" y="0"/>
                  </a:moveTo>
                  <a:lnTo>
                    <a:pt x="3338585" y="0"/>
                  </a:lnTo>
                  <a:lnTo>
                    <a:pt x="3338585" y="921038"/>
                  </a:lnTo>
                  <a:lnTo>
                    <a:pt x="0" y="921038"/>
                  </a:lnTo>
                  <a:close/>
                </a:path>
              </a:pathLst>
            </a:custGeom>
            <a:solidFill>
              <a:srgbClr val="2E7D6B">
                <a:alpha val="87843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38585" cy="959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739" y="1377315"/>
            <a:ext cx="10897491" cy="7532369"/>
            <a:chOff x="0" y="0"/>
            <a:chExt cx="2870121" cy="19838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70121" cy="1983834"/>
            </a:xfrm>
            <a:custGeom>
              <a:avLst/>
              <a:gdLst/>
              <a:ahLst/>
              <a:cxnLst/>
              <a:rect l="l" t="t" r="r" b="b"/>
              <a:pathLst>
                <a:path w="2870121" h="1983834">
                  <a:moveTo>
                    <a:pt x="0" y="0"/>
                  </a:moveTo>
                  <a:lnTo>
                    <a:pt x="2870121" y="0"/>
                  </a:lnTo>
                  <a:lnTo>
                    <a:pt x="2870121" y="1983834"/>
                  </a:lnTo>
                  <a:lnTo>
                    <a:pt x="0" y="1983834"/>
                  </a:lnTo>
                  <a:close/>
                </a:path>
              </a:pathLst>
            </a:custGeom>
            <a:solidFill>
              <a:srgbClr val="2E7D6B">
                <a:alpha val="62745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70121" cy="2021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635895" y="0"/>
            <a:ext cx="4389589" cy="2402303"/>
          </a:xfrm>
          <a:custGeom>
            <a:avLst/>
            <a:gdLst/>
            <a:ahLst/>
            <a:cxnLst/>
            <a:rect l="l" t="t" r="r" b="b"/>
            <a:pathLst>
              <a:path w="4389589" h="2402303">
                <a:moveTo>
                  <a:pt x="0" y="0"/>
                </a:moveTo>
                <a:lnTo>
                  <a:pt x="4389590" y="0"/>
                </a:lnTo>
                <a:lnTo>
                  <a:pt x="4389590" y="2402303"/>
                </a:lnTo>
                <a:lnTo>
                  <a:pt x="0" y="2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5453121" y="8092541"/>
            <a:ext cx="4389589" cy="2402303"/>
          </a:xfrm>
          <a:custGeom>
            <a:avLst/>
            <a:gdLst/>
            <a:ahLst/>
            <a:cxnLst/>
            <a:rect l="l" t="t" r="r" b="b"/>
            <a:pathLst>
              <a:path w="4389589" h="2402303">
                <a:moveTo>
                  <a:pt x="0" y="0"/>
                </a:moveTo>
                <a:lnTo>
                  <a:pt x="4389589" y="0"/>
                </a:lnTo>
                <a:lnTo>
                  <a:pt x="4389589" y="2402303"/>
                </a:lnTo>
                <a:lnTo>
                  <a:pt x="0" y="2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028700" y="3601499"/>
            <a:ext cx="742186" cy="624364"/>
          </a:xfrm>
          <a:custGeom>
            <a:avLst/>
            <a:gdLst/>
            <a:ahLst/>
            <a:cxnLst/>
            <a:rect l="l" t="t" r="r" b="b"/>
            <a:pathLst>
              <a:path w="742186" h="624364">
                <a:moveTo>
                  <a:pt x="0" y="0"/>
                </a:moveTo>
                <a:lnTo>
                  <a:pt x="742186" y="0"/>
                </a:lnTo>
                <a:lnTo>
                  <a:pt x="742186" y="624365"/>
                </a:lnTo>
                <a:lnTo>
                  <a:pt x="0" y="624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028700" y="4554423"/>
            <a:ext cx="742186" cy="624364"/>
          </a:xfrm>
          <a:custGeom>
            <a:avLst/>
            <a:gdLst/>
            <a:ahLst/>
            <a:cxnLst/>
            <a:rect l="l" t="t" r="r" b="b"/>
            <a:pathLst>
              <a:path w="742186" h="624364">
                <a:moveTo>
                  <a:pt x="0" y="0"/>
                </a:moveTo>
                <a:lnTo>
                  <a:pt x="742186" y="0"/>
                </a:lnTo>
                <a:lnTo>
                  <a:pt x="742186" y="624365"/>
                </a:lnTo>
                <a:lnTo>
                  <a:pt x="0" y="624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1028700" y="5507347"/>
            <a:ext cx="742186" cy="624364"/>
          </a:xfrm>
          <a:custGeom>
            <a:avLst/>
            <a:gdLst/>
            <a:ahLst/>
            <a:cxnLst/>
            <a:rect l="l" t="t" r="r" b="b"/>
            <a:pathLst>
              <a:path w="742186" h="624364">
                <a:moveTo>
                  <a:pt x="0" y="0"/>
                </a:moveTo>
                <a:lnTo>
                  <a:pt x="742186" y="0"/>
                </a:lnTo>
                <a:lnTo>
                  <a:pt x="742186" y="624365"/>
                </a:lnTo>
                <a:lnTo>
                  <a:pt x="0" y="624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511211" y="7509236"/>
            <a:ext cx="11316044" cy="2386657"/>
          </a:xfrm>
          <a:custGeom>
            <a:avLst/>
            <a:gdLst/>
            <a:ahLst/>
            <a:cxnLst/>
            <a:rect l="l" t="t" r="r" b="b"/>
            <a:pathLst>
              <a:path w="11316044" h="2386657">
                <a:moveTo>
                  <a:pt x="0" y="0"/>
                </a:moveTo>
                <a:lnTo>
                  <a:pt x="11316044" y="0"/>
                </a:lnTo>
                <a:lnTo>
                  <a:pt x="11316044" y="2386657"/>
                </a:lnTo>
                <a:lnTo>
                  <a:pt x="0" y="2386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 rot="1198804">
            <a:off x="12565238" y="8099792"/>
            <a:ext cx="1402607" cy="1672259"/>
          </a:xfrm>
          <a:custGeom>
            <a:avLst/>
            <a:gdLst/>
            <a:ahLst/>
            <a:cxnLst/>
            <a:rect l="l" t="t" r="r" b="b"/>
            <a:pathLst>
              <a:path w="1402607" h="1672259">
                <a:moveTo>
                  <a:pt x="0" y="0"/>
                </a:moveTo>
                <a:lnTo>
                  <a:pt x="1402607" y="0"/>
                </a:lnTo>
                <a:lnTo>
                  <a:pt x="1402607" y="1672259"/>
                </a:lnTo>
                <a:lnTo>
                  <a:pt x="0" y="1672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2303534" y="306635"/>
            <a:ext cx="13246340" cy="1696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71"/>
              </a:lnSpc>
              <a:spcBef>
                <a:spcPct val="0"/>
              </a:spcBef>
            </a:pPr>
            <a:r>
              <a:rPr lang="en-US" sz="4836" b="1" dirty="0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Modelling Public Transport Accessibility and Commuting Inequality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83453" y="1953992"/>
            <a:ext cx="817364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i="1" dirty="0">
                <a:solidFill>
                  <a:srgbClr val="263D35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A </a:t>
            </a:r>
            <a:r>
              <a:rPr lang="en-US" sz="2599" b="1" i="1" dirty="0" err="1">
                <a:solidFill>
                  <a:srgbClr val="263D35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Generalised</a:t>
            </a:r>
            <a:r>
              <a:rPr lang="en-US" sz="2599" b="1" i="1" dirty="0">
                <a:solidFill>
                  <a:srgbClr val="263D35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Cost Approach for Cardiff University Staff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03534" y="6738345"/>
            <a:ext cx="3182866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u="sng" dirty="0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Research Aim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19878" y="3681094"/>
            <a:ext cx="6924122" cy="40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11" dirty="0">
                <a:solidFill>
                  <a:srgbClr val="263D35"/>
                </a:solidFill>
                <a:latin typeface="Roboto"/>
                <a:ea typeface="Roboto"/>
                <a:cs typeface="Roboto"/>
                <a:sym typeface="Roboto"/>
              </a:rPr>
              <a:t>accessibility gaps in sustainable staff commuting.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19878" y="4587814"/>
            <a:ext cx="6924122" cy="40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11" b="1" dirty="0">
                <a:solidFill>
                  <a:srgbClr val="263D35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411" b="1" dirty="0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ost </a:t>
            </a:r>
            <a:r>
              <a:rPr lang="en-US" sz="2411" dirty="0">
                <a:solidFill>
                  <a:srgbClr val="263D35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lang="en-US" sz="2411" b="1" dirty="0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reliability</a:t>
            </a:r>
            <a:r>
              <a:rPr lang="en-US" sz="2411" dirty="0">
                <a:solidFill>
                  <a:srgbClr val="263D35"/>
                </a:solidFill>
                <a:latin typeface="Roboto"/>
                <a:ea typeface="Roboto"/>
                <a:cs typeface="Roboto"/>
                <a:sym typeface="Roboto"/>
              </a:rPr>
              <a:t> are key barriers to modal shift.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19879" y="5580926"/>
            <a:ext cx="8371921" cy="404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73"/>
              </a:lnSpc>
              <a:spcBef>
                <a:spcPct val="0"/>
              </a:spcBef>
            </a:pPr>
            <a:r>
              <a:rPr lang="en-US" sz="2409" b="1" dirty="0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How can commuting burden be quantified more realistically?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1713" y="2725585"/>
            <a:ext cx="2424044" cy="570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u="sng" dirty="0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Motivation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16717" y="7814036"/>
            <a:ext cx="10305032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263D35"/>
                </a:solidFill>
                <a:latin typeface="Roboto"/>
                <a:ea typeface="Roboto"/>
                <a:cs typeface="Roboto"/>
                <a:sym typeface="Roboto"/>
              </a:rPr>
              <a:t>To quantify public transport commuting burden.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263D35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263D35"/>
                </a:solidFill>
                <a:latin typeface="Roboto"/>
                <a:ea typeface="Roboto"/>
                <a:cs typeface="Roboto"/>
                <a:sym typeface="Roboto"/>
              </a:rPr>
              <a:t>Relation to deprivation and SOC driving?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367246" y="700906"/>
            <a:ext cx="4389589" cy="2402303"/>
          </a:xfrm>
          <a:custGeom>
            <a:avLst/>
            <a:gdLst/>
            <a:ahLst/>
            <a:cxnLst/>
            <a:rect l="l" t="t" r="r" b="b"/>
            <a:pathLst>
              <a:path w="4389589" h="2402303">
                <a:moveTo>
                  <a:pt x="0" y="0"/>
                </a:moveTo>
                <a:lnTo>
                  <a:pt x="4389589" y="0"/>
                </a:lnTo>
                <a:lnTo>
                  <a:pt x="4389589" y="2402302"/>
                </a:lnTo>
                <a:lnTo>
                  <a:pt x="0" y="240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17121905" y="9569541"/>
            <a:ext cx="4389589" cy="2402303"/>
          </a:xfrm>
          <a:custGeom>
            <a:avLst/>
            <a:gdLst/>
            <a:ahLst/>
            <a:cxnLst/>
            <a:rect l="l" t="t" r="r" b="b"/>
            <a:pathLst>
              <a:path w="4389589" h="2402303">
                <a:moveTo>
                  <a:pt x="0" y="0"/>
                </a:moveTo>
                <a:lnTo>
                  <a:pt x="4389590" y="0"/>
                </a:lnTo>
                <a:lnTo>
                  <a:pt x="4389590" y="2402302"/>
                </a:lnTo>
                <a:lnTo>
                  <a:pt x="0" y="240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-172451" y="229548"/>
            <a:ext cx="7315200" cy="1672510"/>
          </a:xfrm>
          <a:custGeom>
            <a:avLst/>
            <a:gdLst/>
            <a:ahLst/>
            <a:cxnLst/>
            <a:rect l="l" t="t" r="r" b="b"/>
            <a:pathLst>
              <a:path w="7315200" h="1672510">
                <a:moveTo>
                  <a:pt x="0" y="0"/>
                </a:moveTo>
                <a:lnTo>
                  <a:pt x="7315200" y="0"/>
                </a:lnTo>
                <a:lnTo>
                  <a:pt x="7315200" y="1672509"/>
                </a:lnTo>
                <a:lnTo>
                  <a:pt x="0" y="1672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-9858322">
            <a:off x="12435605" y="90564"/>
            <a:ext cx="7315200" cy="1672510"/>
          </a:xfrm>
          <a:custGeom>
            <a:avLst/>
            <a:gdLst/>
            <a:ahLst/>
            <a:cxnLst/>
            <a:rect l="l" t="t" r="r" b="b"/>
            <a:pathLst>
              <a:path w="7315200" h="1672510">
                <a:moveTo>
                  <a:pt x="0" y="0"/>
                </a:moveTo>
                <a:lnTo>
                  <a:pt x="7315200" y="0"/>
                </a:lnTo>
                <a:lnTo>
                  <a:pt x="7315200" y="1672509"/>
                </a:lnTo>
                <a:lnTo>
                  <a:pt x="0" y="1672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2605858" y="4402774"/>
            <a:ext cx="1829258" cy="2758668"/>
          </a:xfrm>
          <a:prstGeom prst="line">
            <a:avLst/>
          </a:prstGeom>
          <a:ln w="47625" cap="flat">
            <a:solidFill>
              <a:srgbClr val="8E93A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8086582" y="4402774"/>
            <a:ext cx="1829258" cy="2758668"/>
          </a:xfrm>
          <a:prstGeom prst="line">
            <a:avLst/>
          </a:prstGeom>
          <a:ln w="47625" cap="flat">
            <a:solidFill>
              <a:srgbClr val="8E93A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13567307" y="4402774"/>
            <a:ext cx="1960868" cy="2957147"/>
          </a:xfrm>
          <a:prstGeom prst="line">
            <a:avLst/>
          </a:prstGeom>
          <a:ln w="47625" cap="flat">
            <a:solidFill>
              <a:srgbClr val="8E93A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802844" y="4498286"/>
            <a:ext cx="826535" cy="520029"/>
            <a:chOff x="0" y="0"/>
            <a:chExt cx="1098556" cy="6911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556" cy="691176"/>
            </a:xfrm>
            <a:custGeom>
              <a:avLst/>
              <a:gdLst/>
              <a:ahLst/>
              <a:cxnLst/>
              <a:rect l="l" t="t" r="r" b="b"/>
              <a:pathLst>
                <a:path w="1098556" h="691176">
                  <a:moveTo>
                    <a:pt x="549278" y="691176"/>
                  </a:moveTo>
                  <a:lnTo>
                    <a:pt x="1098556" y="0"/>
                  </a:lnTo>
                  <a:lnTo>
                    <a:pt x="0" y="0"/>
                  </a:lnTo>
                  <a:lnTo>
                    <a:pt x="549278" y="691176"/>
                  </a:lnTo>
                  <a:close/>
                </a:path>
              </a:pathLst>
            </a:custGeom>
            <a:solidFill>
              <a:srgbClr val="27465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1649" y="1745"/>
              <a:ext cx="755257" cy="3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07088" y="4498286"/>
            <a:ext cx="826535" cy="520029"/>
            <a:chOff x="0" y="0"/>
            <a:chExt cx="1098556" cy="69117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8556" cy="691176"/>
            </a:xfrm>
            <a:custGeom>
              <a:avLst/>
              <a:gdLst/>
              <a:ahLst/>
              <a:cxnLst/>
              <a:rect l="l" t="t" r="r" b="b"/>
              <a:pathLst>
                <a:path w="1098556" h="691176">
                  <a:moveTo>
                    <a:pt x="549278" y="691176"/>
                  </a:moveTo>
                  <a:lnTo>
                    <a:pt x="1098556" y="0"/>
                  </a:lnTo>
                  <a:lnTo>
                    <a:pt x="0" y="0"/>
                  </a:lnTo>
                  <a:lnTo>
                    <a:pt x="549278" y="691176"/>
                  </a:lnTo>
                  <a:close/>
                </a:path>
              </a:pathLst>
            </a:custGeom>
            <a:solidFill>
              <a:srgbClr val="E9C36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1649" y="1745"/>
              <a:ext cx="755257" cy="3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0800000">
            <a:off x="4519685" y="6722488"/>
            <a:ext cx="826535" cy="520029"/>
            <a:chOff x="0" y="0"/>
            <a:chExt cx="1098556" cy="69117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98556" cy="691176"/>
            </a:xfrm>
            <a:custGeom>
              <a:avLst/>
              <a:gdLst/>
              <a:ahLst/>
              <a:cxnLst/>
              <a:rect l="l" t="t" r="r" b="b"/>
              <a:pathLst>
                <a:path w="1098556" h="691176">
                  <a:moveTo>
                    <a:pt x="549278" y="691176"/>
                  </a:moveTo>
                  <a:lnTo>
                    <a:pt x="1098556" y="0"/>
                  </a:lnTo>
                  <a:lnTo>
                    <a:pt x="0" y="0"/>
                  </a:lnTo>
                  <a:lnTo>
                    <a:pt x="549278" y="691176"/>
                  </a:lnTo>
                  <a:close/>
                </a:path>
              </a:pathLst>
            </a:custGeom>
            <a:solidFill>
              <a:srgbClr val="2C9D8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1649" y="1745"/>
              <a:ext cx="755257" cy="3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10800000">
            <a:off x="10023930" y="6722488"/>
            <a:ext cx="826535" cy="520029"/>
            <a:chOff x="0" y="0"/>
            <a:chExt cx="1098556" cy="691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98556" cy="691176"/>
            </a:xfrm>
            <a:custGeom>
              <a:avLst/>
              <a:gdLst/>
              <a:ahLst/>
              <a:cxnLst/>
              <a:rect l="l" t="t" r="r" b="b"/>
              <a:pathLst>
                <a:path w="1098556" h="691176">
                  <a:moveTo>
                    <a:pt x="549278" y="691176"/>
                  </a:moveTo>
                  <a:lnTo>
                    <a:pt x="1098556" y="0"/>
                  </a:lnTo>
                  <a:lnTo>
                    <a:pt x="0" y="0"/>
                  </a:lnTo>
                  <a:lnTo>
                    <a:pt x="549278" y="691176"/>
                  </a:lnTo>
                  <a:close/>
                </a:path>
              </a:pathLst>
            </a:custGeom>
            <a:solidFill>
              <a:srgbClr val="ED895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1649" y="1745"/>
              <a:ext cx="755257" cy="3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 rot="-10800000">
            <a:off x="15500013" y="6722488"/>
            <a:ext cx="826535" cy="520029"/>
            <a:chOff x="0" y="0"/>
            <a:chExt cx="1098556" cy="69117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8556" cy="691176"/>
            </a:xfrm>
            <a:custGeom>
              <a:avLst/>
              <a:gdLst/>
              <a:ahLst/>
              <a:cxnLst/>
              <a:rect l="l" t="t" r="r" b="b"/>
              <a:pathLst>
                <a:path w="1098556" h="691176">
                  <a:moveTo>
                    <a:pt x="549278" y="691176"/>
                  </a:moveTo>
                  <a:lnTo>
                    <a:pt x="1098556" y="0"/>
                  </a:lnTo>
                  <a:lnTo>
                    <a:pt x="0" y="0"/>
                  </a:lnTo>
                  <a:lnTo>
                    <a:pt x="549278" y="691176"/>
                  </a:lnTo>
                  <a:close/>
                </a:path>
              </a:pathLst>
            </a:custGeom>
            <a:solidFill>
              <a:srgbClr val="2A578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1649" y="1745"/>
              <a:ext cx="755257" cy="3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761163" y="4498286"/>
            <a:ext cx="826535" cy="520029"/>
            <a:chOff x="0" y="0"/>
            <a:chExt cx="1098556" cy="6911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8556" cy="691176"/>
            </a:xfrm>
            <a:custGeom>
              <a:avLst/>
              <a:gdLst/>
              <a:ahLst/>
              <a:cxnLst/>
              <a:rect l="l" t="t" r="r" b="b"/>
              <a:pathLst>
                <a:path w="1098556" h="691176">
                  <a:moveTo>
                    <a:pt x="549278" y="691176"/>
                  </a:moveTo>
                  <a:lnTo>
                    <a:pt x="1098556" y="0"/>
                  </a:lnTo>
                  <a:lnTo>
                    <a:pt x="0" y="0"/>
                  </a:lnTo>
                  <a:lnTo>
                    <a:pt x="549278" y="691176"/>
                  </a:lnTo>
                  <a:close/>
                </a:path>
              </a:pathLst>
            </a:custGeom>
            <a:solidFill>
              <a:srgbClr val="FF661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1649" y="1745"/>
              <a:ext cx="755257" cy="368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2815" y="2871707"/>
            <a:ext cx="1886593" cy="188659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465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510938" y="3109831"/>
            <a:ext cx="1666356" cy="1666356"/>
          </a:xfrm>
          <a:custGeom>
            <a:avLst/>
            <a:gdLst/>
            <a:ahLst/>
            <a:cxnLst/>
            <a:rect l="l" t="t" r="r" b="b"/>
            <a:pathLst>
              <a:path w="1666356" h="1666356">
                <a:moveTo>
                  <a:pt x="0" y="0"/>
                </a:moveTo>
                <a:lnTo>
                  <a:pt x="1666356" y="0"/>
                </a:lnTo>
                <a:lnTo>
                  <a:pt x="1666356" y="1666355"/>
                </a:lnTo>
                <a:lnTo>
                  <a:pt x="0" y="16663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1" name="Group 31"/>
          <p:cNvGrpSpPr/>
          <p:nvPr/>
        </p:nvGrpSpPr>
        <p:grpSpPr>
          <a:xfrm rot="-5400000">
            <a:off x="1510938" y="3109831"/>
            <a:ext cx="1410346" cy="1410346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sp>
        <p:nvSpPr>
          <p:cNvPr id="34" name="AutoShape 34"/>
          <p:cNvSpPr/>
          <p:nvPr/>
        </p:nvSpPr>
        <p:spPr>
          <a:xfrm flipH="1">
            <a:off x="5346220" y="4402774"/>
            <a:ext cx="1960868" cy="2957147"/>
          </a:xfrm>
          <a:prstGeom prst="line">
            <a:avLst/>
          </a:prstGeom>
          <a:ln w="47625" cap="flat">
            <a:solidFill>
              <a:srgbClr val="8E93A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5" name="AutoShape 35"/>
          <p:cNvSpPr/>
          <p:nvPr/>
        </p:nvSpPr>
        <p:spPr>
          <a:xfrm flipH="1">
            <a:off x="10826944" y="4402774"/>
            <a:ext cx="1960868" cy="2957147"/>
          </a:xfrm>
          <a:prstGeom prst="line">
            <a:avLst/>
          </a:prstGeom>
          <a:ln w="47625" cap="flat">
            <a:solidFill>
              <a:srgbClr val="8E93A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6" name="Group 36"/>
          <p:cNvGrpSpPr/>
          <p:nvPr/>
        </p:nvGrpSpPr>
        <p:grpSpPr>
          <a:xfrm>
            <a:off x="4013177" y="7004394"/>
            <a:ext cx="1886593" cy="1886593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D8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4251300" y="7242517"/>
            <a:ext cx="1665923" cy="1665922"/>
          </a:xfrm>
          <a:custGeom>
            <a:avLst/>
            <a:gdLst/>
            <a:ahLst/>
            <a:cxnLst/>
            <a:rect l="l" t="t" r="r" b="b"/>
            <a:pathLst>
              <a:path w="1665923" h="1665922">
                <a:moveTo>
                  <a:pt x="0" y="0"/>
                </a:moveTo>
                <a:lnTo>
                  <a:pt x="1665923" y="0"/>
                </a:lnTo>
                <a:lnTo>
                  <a:pt x="1665923" y="1665923"/>
                </a:lnTo>
                <a:lnTo>
                  <a:pt x="0" y="1665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40" name="Group 40"/>
          <p:cNvGrpSpPr/>
          <p:nvPr/>
        </p:nvGrpSpPr>
        <p:grpSpPr>
          <a:xfrm rot="-5400000">
            <a:off x="4251300" y="7242517"/>
            <a:ext cx="1410346" cy="1410346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53539" y="2871707"/>
            <a:ext cx="1886593" cy="1886593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C36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6991662" y="3109831"/>
            <a:ext cx="1665922" cy="1665923"/>
          </a:xfrm>
          <a:custGeom>
            <a:avLst/>
            <a:gdLst/>
            <a:ahLst/>
            <a:cxnLst/>
            <a:rect l="l" t="t" r="r" b="b"/>
            <a:pathLst>
              <a:path w="1665922" h="1665923">
                <a:moveTo>
                  <a:pt x="0" y="0"/>
                </a:moveTo>
                <a:lnTo>
                  <a:pt x="1665923" y="0"/>
                </a:lnTo>
                <a:lnTo>
                  <a:pt x="1665923" y="1665922"/>
                </a:lnTo>
                <a:lnTo>
                  <a:pt x="0" y="1665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47" name="Group 47"/>
          <p:cNvGrpSpPr/>
          <p:nvPr/>
        </p:nvGrpSpPr>
        <p:grpSpPr>
          <a:xfrm rot="-5400000">
            <a:off x="6991662" y="3109831"/>
            <a:ext cx="1410346" cy="1410346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493901" y="7004394"/>
            <a:ext cx="1886593" cy="1886593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89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3" name="Freeform 53"/>
          <p:cNvSpPr/>
          <p:nvPr/>
        </p:nvSpPr>
        <p:spPr>
          <a:xfrm>
            <a:off x="9732025" y="7242517"/>
            <a:ext cx="1665922" cy="1665922"/>
          </a:xfrm>
          <a:custGeom>
            <a:avLst/>
            <a:gdLst/>
            <a:ahLst/>
            <a:cxnLst/>
            <a:rect l="l" t="t" r="r" b="b"/>
            <a:pathLst>
              <a:path w="1665922" h="1665922">
                <a:moveTo>
                  <a:pt x="0" y="0"/>
                </a:moveTo>
                <a:lnTo>
                  <a:pt x="1665922" y="0"/>
                </a:lnTo>
                <a:lnTo>
                  <a:pt x="1665922" y="1665923"/>
                </a:lnTo>
                <a:lnTo>
                  <a:pt x="0" y="1665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54" name="Group 54"/>
          <p:cNvGrpSpPr/>
          <p:nvPr/>
        </p:nvGrpSpPr>
        <p:grpSpPr>
          <a:xfrm rot="-5400000">
            <a:off x="9732025" y="7242517"/>
            <a:ext cx="1410346" cy="1410346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4974625" y="7004394"/>
            <a:ext cx="1886593" cy="1886593"/>
            <a:chOff x="0" y="0"/>
            <a:chExt cx="812800" cy="8128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A578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0" name="Freeform 60"/>
          <p:cNvSpPr/>
          <p:nvPr/>
        </p:nvSpPr>
        <p:spPr>
          <a:xfrm>
            <a:off x="15212749" y="7242517"/>
            <a:ext cx="1665922" cy="1665922"/>
          </a:xfrm>
          <a:custGeom>
            <a:avLst/>
            <a:gdLst/>
            <a:ahLst/>
            <a:cxnLst/>
            <a:rect l="l" t="t" r="r" b="b"/>
            <a:pathLst>
              <a:path w="1665922" h="1665922">
                <a:moveTo>
                  <a:pt x="0" y="0"/>
                </a:moveTo>
                <a:lnTo>
                  <a:pt x="1665922" y="0"/>
                </a:lnTo>
                <a:lnTo>
                  <a:pt x="1665922" y="1665923"/>
                </a:lnTo>
                <a:lnTo>
                  <a:pt x="0" y="1665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61" name="Group 61"/>
          <p:cNvGrpSpPr/>
          <p:nvPr/>
        </p:nvGrpSpPr>
        <p:grpSpPr>
          <a:xfrm rot="-5400000">
            <a:off x="15212749" y="7242517"/>
            <a:ext cx="1410346" cy="1410346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234263" y="2871707"/>
            <a:ext cx="1886593" cy="1886593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661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1456" tIns="51456" rIns="51456" bIns="5145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7" name="Freeform 67"/>
          <p:cNvSpPr/>
          <p:nvPr/>
        </p:nvSpPr>
        <p:spPr>
          <a:xfrm>
            <a:off x="12472387" y="3109831"/>
            <a:ext cx="1665922" cy="1665923"/>
          </a:xfrm>
          <a:custGeom>
            <a:avLst/>
            <a:gdLst/>
            <a:ahLst/>
            <a:cxnLst/>
            <a:rect l="l" t="t" r="r" b="b"/>
            <a:pathLst>
              <a:path w="1665922" h="1665923">
                <a:moveTo>
                  <a:pt x="0" y="0"/>
                </a:moveTo>
                <a:lnTo>
                  <a:pt x="1665922" y="0"/>
                </a:lnTo>
                <a:lnTo>
                  <a:pt x="1665922" y="1665922"/>
                </a:lnTo>
                <a:lnTo>
                  <a:pt x="0" y="16659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grpSp>
        <p:nvGrpSpPr>
          <p:cNvPr id="68" name="Group 68"/>
          <p:cNvGrpSpPr/>
          <p:nvPr/>
        </p:nvGrpSpPr>
        <p:grpSpPr>
          <a:xfrm rot="-5400000">
            <a:off x="12472387" y="3109831"/>
            <a:ext cx="1410346" cy="1410346"/>
            <a:chOff x="0" y="0"/>
            <a:chExt cx="812800" cy="8128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45781" tIns="45781" rIns="45781" bIns="45781" rtlCol="0" anchor="ctr"/>
            <a:lstStyle/>
            <a:p>
              <a:pPr algn="ctr">
                <a:lnSpc>
                  <a:spcPts val="1743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60105" y="8126226"/>
            <a:ext cx="2312011" cy="764760"/>
            <a:chOff x="0" y="0"/>
            <a:chExt cx="608925" cy="20141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608925" cy="201418"/>
            </a:xfrm>
            <a:custGeom>
              <a:avLst/>
              <a:gdLst/>
              <a:ahLst/>
              <a:cxnLst/>
              <a:rect l="l" t="t" r="r" b="b"/>
              <a:pathLst>
                <a:path w="608925" h="201418">
                  <a:moveTo>
                    <a:pt x="100709" y="0"/>
                  </a:moveTo>
                  <a:lnTo>
                    <a:pt x="508216" y="0"/>
                  </a:lnTo>
                  <a:cubicBezTo>
                    <a:pt x="534925" y="0"/>
                    <a:pt x="560541" y="10610"/>
                    <a:pt x="579428" y="29497"/>
                  </a:cubicBezTo>
                  <a:cubicBezTo>
                    <a:pt x="598314" y="48384"/>
                    <a:pt x="608925" y="73999"/>
                    <a:pt x="608925" y="100709"/>
                  </a:cubicBezTo>
                  <a:lnTo>
                    <a:pt x="608925" y="100709"/>
                  </a:lnTo>
                  <a:cubicBezTo>
                    <a:pt x="608925" y="156329"/>
                    <a:pt x="563836" y="201418"/>
                    <a:pt x="508216" y="201418"/>
                  </a:cubicBezTo>
                  <a:lnTo>
                    <a:pt x="100709" y="201418"/>
                  </a:lnTo>
                  <a:cubicBezTo>
                    <a:pt x="73999" y="201418"/>
                    <a:pt x="48384" y="190808"/>
                    <a:pt x="29497" y="171921"/>
                  </a:cubicBezTo>
                  <a:cubicBezTo>
                    <a:pt x="10610" y="153035"/>
                    <a:pt x="0" y="127419"/>
                    <a:pt x="0" y="100709"/>
                  </a:cubicBezTo>
                  <a:lnTo>
                    <a:pt x="0" y="100709"/>
                  </a:lnTo>
                  <a:cubicBezTo>
                    <a:pt x="0" y="73999"/>
                    <a:pt x="10610" y="48384"/>
                    <a:pt x="29497" y="29497"/>
                  </a:cubicBezTo>
                  <a:cubicBezTo>
                    <a:pt x="48384" y="10610"/>
                    <a:pt x="73999" y="0"/>
                    <a:pt x="100709" y="0"/>
                  </a:cubicBezTo>
                  <a:close/>
                </a:path>
              </a:pathLst>
            </a:custGeom>
            <a:solidFill>
              <a:srgbClr val="274653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57150"/>
              <a:ext cx="608925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01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3800467" y="2721313"/>
            <a:ext cx="2312011" cy="764760"/>
            <a:chOff x="0" y="0"/>
            <a:chExt cx="608925" cy="20141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608925" cy="201418"/>
            </a:xfrm>
            <a:custGeom>
              <a:avLst/>
              <a:gdLst/>
              <a:ahLst/>
              <a:cxnLst/>
              <a:rect l="l" t="t" r="r" b="b"/>
              <a:pathLst>
                <a:path w="608925" h="201418">
                  <a:moveTo>
                    <a:pt x="100709" y="0"/>
                  </a:moveTo>
                  <a:lnTo>
                    <a:pt x="508216" y="0"/>
                  </a:lnTo>
                  <a:cubicBezTo>
                    <a:pt x="534925" y="0"/>
                    <a:pt x="560541" y="10610"/>
                    <a:pt x="579428" y="29497"/>
                  </a:cubicBezTo>
                  <a:cubicBezTo>
                    <a:pt x="598314" y="48384"/>
                    <a:pt x="608925" y="73999"/>
                    <a:pt x="608925" y="100709"/>
                  </a:cubicBezTo>
                  <a:lnTo>
                    <a:pt x="608925" y="100709"/>
                  </a:lnTo>
                  <a:cubicBezTo>
                    <a:pt x="608925" y="156329"/>
                    <a:pt x="563836" y="201418"/>
                    <a:pt x="508216" y="201418"/>
                  </a:cubicBezTo>
                  <a:lnTo>
                    <a:pt x="100709" y="201418"/>
                  </a:lnTo>
                  <a:cubicBezTo>
                    <a:pt x="73999" y="201418"/>
                    <a:pt x="48384" y="190808"/>
                    <a:pt x="29497" y="171921"/>
                  </a:cubicBezTo>
                  <a:cubicBezTo>
                    <a:pt x="10610" y="153035"/>
                    <a:pt x="0" y="127419"/>
                    <a:pt x="0" y="100709"/>
                  </a:cubicBezTo>
                  <a:lnTo>
                    <a:pt x="0" y="100709"/>
                  </a:lnTo>
                  <a:cubicBezTo>
                    <a:pt x="0" y="73999"/>
                    <a:pt x="10610" y="48384"/>
                    <a:pt x="29497" y="29497"/>
                  </a:cubicBezTo>
                  <a:cubicBezTo>
                    <a:pt x="48384" y="10610"/>
                    <a:pt x="73999" y="0"/>
                    <a:pt x="100709" y="0"/>
                  </a:cubicBezTo>
                  <a:close/>
                </a:path>
              </a:pathLst>
            </a:custGeom>
            <a:solidFill>
              <a:srgbClr val="2C9D8F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608925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02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282704" y="2721313"/>
            <a:ext cx="2312011" cy="764760"/>
            <a:chOff x="0" y="0"/>
            <a:chExt cx="608925" cy="20141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08925" cy="201418"/>
            </a:xfrm>
            <a:custGeom>
              <a:avLst/>
              <a:gdLst/>
              <a:ahLst/>
              <a:cxnLst/>
              <a:rect l="l" t="t" r="r" b="b"/>
              <a:pathLst>
                <a:path w="608925" h="201418">
                  <a:moveTo>
                    <a:pt x="100709" y="0"/>
                  </a:moveTo>
                  <a:lnTo>
                    <a:pt x="508216" y="0"/>
                  </a:lnTo>
                  <a:cubicBezTo>
                    <a:pt x="534925" y="0"/>
                    <a:pt x="560541" y="10610"/>
                    <a:pt x="579428" y="29497"/>
                  </a:cubicBezTo>
                  <a:cubicBezTo>
                    <a:pt x="598314" y="48384"/>
                    <a:pt x="608925" y="73999"/>
                    <a:pt x="608925" y="100709"/>
                  </a:cubicBezTo>
                  <a:lnTo>
                    <a:pt x="608925" y="100709"/>
                  </a:lnTo>
                  <a:cubicBezTo>
                    <a:pt x="608925" y="156329"/>
                    <a:pt x="563836" y="201418"/>
                    <a:pt x="508216" y="201418"/>
                  </a:cubicBezTo>
                  <a:lnTo>
                    <a:pt x="100709" y="201418"/>
                  </a:lnTo>
                  <a:cubicBezTo>
                    <a:pt x="73999" y="201418"/>
                    <a:pt x="48384" y="190808"/>
                    <a:pt x="29497" y="171921"/>
                  </a:cubicBezTo>
                  <a:cubicBezTo>
                    <a:pt x="10610" y="153035"/>
                    <a:pt x="0" y="127419"/>
                    <a:pt x="0" y="100709"/>
                  </a:cubicBezTo>
                  <a:lnTo>
                    <a:pt x="0" y="100709"/>
                  </a:lnTo>
                  <a:cubicBezTo>
                    <a:pt x="0" y="73999"/>
                    <a:pt x="10610" y="48384"/>
                    <a:pt x="29497" y="29497"/>
                  </a:cubicBezTo>
                  <a:cubicBezTo>
                    <a:pt x="48384" y="10610"/>
                    <a:pt x="73999" y="0"/>
                    <a:pt x="100709" y="0"/>
                  </a:cubicBezTo>
                  <a:close/>
                </a:path>
              </a:pathLst>
            </a:custGeom>
            <a:solidFill>
              <a:srgbClr val="ED895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57150"/>
              <a:ext cx="608925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04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759031" y="2721313"/>
            <a:ext cx="2312011" cy="764760"/>
            <a:chOff x="0" y="0"/>
            <a:chExt cx="608925" cy="20141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608925" cy="201418"/>
            </a:xfrm>
            <a:custGeom>
              <a:avLst/>
              <a:gdLst/>
              <a:ahLst/>
              <a:cxnLst/>
              <a:rect l="l" t="t" r="r" b="b"/>
              <a:pathLst>
                <a:path w="608925" h="201418">
                  <a:moveTo>
                    <a:pt x="100709" y="0"/>
                  </a:moveTo>
                  <a:lnTo>
                    <a:pt x="508216" y="0"/>
                  </a:lnTo>
                  <a:cubicBezTo>
                    <a:pt x="534925" y="0"/>
                    <a:pt x="560541" y="10610"/>
                    <a:pt x="579428" y="29497"/>
                  </a:cubicBezTo>
                  <a:cubicBezTo>
                    <a:pt x="598314" y="48384"/>
                    <a:pt x="608925" y="73999"/>
                    <a:pt x="608925" y="100709"/>
                  </a:cubicBezTo>
                  <a:lnTo>
                    <a:pt x="608925" y="100709"/>
                  </a:lnTo>
                  <a:cubicBezTo>
                    <a:pt x="608925" y="156329"/>
                    <a:pt x="563836" y="201418"/>
                    <a:pt x="508216" y="201418"/>
                  </a:cubicBezTo>
                  <a:lnTo>
                    <a:pt x="100709" y="201418"/>
                  </a:lnTo>
                  <a:cubicBezTo>
                    <a:pt x="73999" y="201418"/>
                    <a:pt x="48384" y="190808"/>
                    <a:pt x="29497" y="171921"/>
                  </a:cubicBezTo>
                  <a:cubicBezTo>
                    <a:pt x="10610" y="153035"/>
                    <a:pt x="0" y="127419"/>
                    <a:pt x="0" y="100709"/>
                  </a:cubicBezTo>
                  <a:lnTo>
                    <a:pt x="0" y="100709"/>
                  </a:lnTo>
                  <a:cubicBezTo>
                    <a:pt x="0" y="73999"/>
                    <a:pt x="10610" y="48384"/>
                    <a:pt x="29497" y="29497"/>
                  </a:cubicBezTo>
                  <a:cubicBezTo>
                    <a:pt x="48384" y="10610"/>
                    <a:pt x="73999" y="0"/>
                    <a:pt x="100709" y="0"/>
                  </a:cubicBezTo>
                  <a:close/>
                </a:path>
              </a:pathLst>
            </a:custGeom>
            <a:solidFill>
              <a:srgbClr val="2A578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57150"/>
              <a:ext cx="608925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06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540830" y="8126226"/>
            <a:ext cx="2312011" cy="764760"/>
            <a:chOff x="0" y="0"/>
            <a:chExt cx="608925" cy="20141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608925" cy="201418"/>
            </a:xfrm>
            <a:custGeom>
              <a:avLst/>
              <a:gdLst/>
              <a:ahLst/>
              <a:cxnLst/>
              <a:rect l="l" t="t" r="r" b="b"/>
              <a:pathLst>
                <a:path w="608925" h="201418">
                  <a:moveTo>
                    <a:pt x="100709" y="0"/>
                  </a:moveTo>
                  <a:lnTo>
                    <a:pt x="508216" y="0"/>
                  </a:lnTo>
                  <a:cubicBezTo>
                    <a:pt x="534925" y="0"/>
                    <a:pt x="560541" y="10610"/>
                    <a:pt x="579428" y="29497"/>
                  </a:cubicBezTo>
                  <a:cubicBezTo>
                    <a:pt x="598314" y="48384"/>
                    <a:pt x="608925" y="73999"/>
                    <a:pt x="608925" y="100709"/>
                  </a:cubicBezTo>
                  <a:lnTo>
                    <a:pt x="608925" y="100709"/>
                  </a:lnTo>
                  <a:cubicBezTo>
                    <a:pt x="608925" y="156329"/>
                    <a:pt x="563836" y="201418"/>
                    <a:pt x="508216" y="201418"/>
                  </a:cubicBezTo>
                  <a:lnTo>
                    <a:pt x="100709" y="201418"/>
                  </a:lnTo>
                  <a:cubicBezTo>
                    <a:pt x="73999" y="201418"/>
                    <a:pt x="48384" y="190808"/>
                    <a:pt x="29497" y="171921"/>
                  </a:cubicBezTo>
                  <a:cubicBezTo>
                    <a:pt x="10610" y="153035"/>
                    <a:pt x="0" y="127419"/>
                    <a:pt x="0" y="100709"/>
                  </a:cubicBezTo>
                  <a:lnTo>
                    <a:pt x="0" y="100709"/>
                  </a:lnTo>
                  <a:cubicBezTo>
                    <a:pt x="0" y="73999"/>
                    <a:pt x="10610" y="48384"/>
                    <a:pt x="29497" y="29497"/>
                  </a:cubicBezTo>
                  <a:cubicBezTo>
                    <a:pt x="48384" y="10610"/>
                    <a:pt x="73999" y="0"/>
                    <a:pt x="100709" y="0"/>
                  </a:cubicBezTo>
                  <a:close/>
                </a:path>
              </a:pathLst>
            </a:custGeom>
            <a:solidFill>
              <a:srgbClr val="E9C36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57150"/>
              <a:ext cx="608925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03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2021554" y="8126226"/>
            <a:ext cx="2312011" cy="764760"/>
            <a:chOff x="0" y="0"/>
            <a:chExt cx="608925" cy="20141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08925" cy="201418"/>
            </a:xfrm>
            <a:custGeom>
              <a:avLst/>
              <a:gdLst/>
              <a:ahLst/>
              <a:cxnLst/>
              <a:rect l="l" t="t" r="r" b="b"/>
              <a:pathLst>
                <a:path w="608925" h="201418">
                  <a:moveTo>
                    <a:pt x="100709" y="0"/>
                  </a:moveTo>
                  <a:lnTo>
                    <a:pt x="508216" y="0"/>
                  </a:lnTo>
                  <a:cubicBezTo>
                    <a:pt x="534925" y="0"/>
                    <a:pt x="560541" y="10610"/>
                    <a:pt x="579428" y="29497"/>
                  </a:cubicBezTo>
                  <a:cubicBezTo>
                    <a:pt x="598314" y="48384"/>
                    <a:pt x="608925" y="73999"/>
                    <a:pt x="608925" y="100709"/>
                  </a:cubicBezTo>
                  <a:lnTo>
                    <a:pt x="608925" y="100709"/>
                  </a:lnTo>
                  <a:cubicBezTo>
                    <a:pt x="608925" y="156329"/>
                    <a:pt x="563836" y="201418"/>
                    <a:pt x="508216" y="201418"/>
                  </a:cubicBezTo>
                  <a:lnTo>
                    <a:pt x="100709" y="201418"/>
                  </a:lnTo>
                  <a:cubicBezTo>
                    <a:pt x="73999" y="201418"/>
                    <a:pt x="48384" y="190808"/>
                    <a:pt x="29497" y="171921"/>
                  </a:cubicBezTo>
                  <a:cubicBezTo>
                    <a:pt x="10610" y="153035"/>
                    <a:pt x="0" y="127419"/>
                    <a:pt x="0" y="100709"/>
                  </a:cubicBezTo>
                  <a:lnTo>
                    <a:pt x="0" y="100709"/>
                  </a:lnTo>
                  <a:cubicBezTo>
                    <a:pt x="0" y="73999"/>
                    <a:pt x="10610" y="48384"/>
                    <a:pt x="29497" y="29497"/>
                  </a:cubicBezTo>
                  <a:cubicBezTo>
                    <a:pt x="48384" y="10610"/>
                    <a:pt x="73999" y="0"/>
                    <a:pt x="100709" y="0"/>
                  </a:cubicBezTo>
                  <a:close/>
                </a:path>
              </a:pathLst>
            </a:custGeom>
            <a:solidFill>
              <a:srgbClr val="FF661D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57150"/>
              <a:ext cx="608925" cy="258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STEP 05</a:t>
              </a:r>
            </a:p>
          </p:txBody>
        </p:sp>
      </p:grpSp>
      <p:sp>
        <p:nvSpPr>
          <p:cNvPr id="89" name="Freeform 89"/>
          <p:cNvSpPr/>
          <p:nvPr/>
        </p:nvSpPr>
        <p:spPr>
          <a:xfrm>
            <a:off x="15388454" y="7373080"/>
            <a:ext cx="1101472" cy="1101472"/>
          </a:xfrm>
          <a:custGeom>
            <a:avLst/>
            <a:gdLst/>
            <a:ahLst/>
            <a:cxnLst/>
            <a:rect l="l" t="t" r="r" b="b"/>
            <a:pathLst>
              <a:path w="1101472" h="1101472">
                <a:moveTo>
                  <a:pt x="0" y="0"/>
                </a:moveTo>
                <a:lnTo>
                  <a:pt x="1101472" y="0"/>
                </a:lnTo>
                <a:lnTo>
                  <a:pt x="1101472" y="1101472"/>
                </a:lnTo>
                <a:lnTo>
                  <a:pt x="0" y="11014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0" name="Freeform 90"/>
          <p:cNvSpPr/>
          <p:nvPr/>
        </p:nvSpPr>
        <p:spPr>
          <a:xfrm>
            <a:off x="1863438" y="3332015"/>
            <a:ext cx="705345" cy="1014885"/>
          </a:xfrm>
          <a:custGeom>
            <a:avLst/>
            <a:gdLst/>
            <a:ahLst/>
            <a:cxnLst/>
            <a:rect l="l" t="t" r="r" b="b"/>
            <a:pathLst>
              <a:path w="705345" h="1014885">
                <a:moveTo>
                  <a:pt x="0" y="0"/>
                </a:moveTo>
                <a:lnTo>
                  <a:pt x="705346" y="0"/>
                </a:lnTo>
                <a:lnTo>
                  <a:pt x="705346" y="1014885"/>
                </a:lnTo>
                <a:lnTo>
                  <a:pt x="0" y="10148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1" name="Freeform 91"/>
          <p:cNvSpPr/>
          <p:nvPr/>
        </p:nvSpPr>
        <p:spPr>
          <a:xfrm>
            <a:off x="7331762" y="3307561"/>
            <a:ext cx="754821" cy="1014885"/>
          </a:xfrm>
          <a:custGeom>
            <a:avLst/>
            <a:gdLst/>
            <a:ahLst/>
            <a:cxnLst/>
            <a:rect l="l" t="t" r="r" b="b"/>
            <a:pathLst>
              <a:path w="754821" h="1014885">
                <a:moveTo>
                  <a:pt x="0" y="0"/>
                </a:moveTo>
                <a:lnTo>
                  <a:pt x="754820" y="0"/>
                </a:lnTo>
                <a:lnTo>
                  <a:pt x="754820" y="1014885"/>
                </a:lnTo>
                <a:lnTo>
                  <a:pt x="0" y="10148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2" name="Freeform 92"/>
          <p:cNvSpPr/>
          <p:nvPr/>
        </p:nvSpPr>
        <p:spPr>
          <a:xfrm>
            <a:off x="9925647" y="7477978"/>
            <a:ext cx="1083232" cy="996573"/>
          </a:xfrm>
          <a:custGeom>
            <a:avLst/>
            <a:gdLst/>
            <a:ahLst/>
            <a:cxnLst/>
            <a:rect l="l" t="t" r="r" b="b"/>
            <a:pathLst>
              <a:path w="1083232" h="996573">
                <a:moveTo>
                  <a:pt x="0" y="0"/>
                </a:moveTo>
                <a:lnTo>
                  <a:pt x="1083231" y="0"/>
                </a:lnTo>
                <a:lnTo>
                  <a:pt x="1083231" y="996574"/>
                </a:lnTo>
                <a:lnTo>
                  <a:pt x="0" y="99657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3" name="Freeform 93"/>
          <p:cNvSpPr/>
          <p:nvPr/>
        </p:nvSpPr>
        <p:spPr>
          <a:xfrm>
            <a:off x="12742370" y="3307561"/>
            <a:ext cx="911061" cy="1002543"/>
          </a:xfrm>
          <a:custGeom>
            <a:avLst/>
            <a:gdLst/>
            <a:ahLst/>
            <a:cxnLst/>
            <a:rect l="l" t="t" r="r" b="b"/>
            <a:pathLst>
              <a:path w="911061" h="1002543">
                <a:moveTo>
                  <a:pt x="0" y="0"/>
                </a:moveTo>
                <a:lnTo>
                  <a:pt x="911061" y="0"/>
                </a:lnTo>
                <a:lnTo>
                  <a:pt x="911061" y="1002543"/>
                </a:lnTo>
                <a:lnTo>
                  <a:pt x="0" y="100254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4" name="Freeform 94"/>
          <p:cNvSpPr/>
          <p:nvPr/>
        </p:nvSpPr>
        <p:spPr>
          <a:xfrm>
            <a:off x="4519685" y="7474389"/>
            <a:ext cx="946601" cy="946601"/>
          </a:xfrm>
          <a:custGeom>
            <a:avLst/>
            <a:gdLst/>
            <a:ahLst/>
            <a:cxnLst/>
            <a:rect l="l" t="t" r="r" b="b"/>
            <a:pathLst>
              <a:path w="946601" h="946601">
                <a:moveTo>
                  <a:pt x="0" y="0"/>
                </a:moveTo>
                <a:lnTo>
                  <a:pt x="946602" y="0"/>
                </a:lnTo>
                <a:lnTo>
                  <a:pt x="946602" y="946602"/>
                </a:lnTo>
                <a:lnTo>
                  <a:pt x="0" y="94660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5" name="TextBox 95"/>
          <p:cNvSpPr txBox="1"/>
          <p:nvPr/>
        </p:nvSpPr>
        <p:spPr>
          <a:xfrm>
            <a:off x="537608" y="596872"/>
            <a:ext cx="16721692" cy="121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54"/>
              </a:lnSpc>
              <a:spcBef>
                <a:spcPct val="0"/>
              </a:spcBef>
            </a:pPr>
            <a:r>
              <a:rPr lang="en-US" sz="7110" b="1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Methodological Framework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779517" y="6257116"/>
            <a:ext cx="277797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Define Spatial Framework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474708" y="3829932"/>
            <a:ext cx="2916489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Prepare Survey Data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135130" y="3805479"/>
            <a:ext cx="266426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Model Public Transport Routes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364702" y="6257116"/>
            <a:ext cx="266426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Integrate GIS + WIMD Data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4624084" y="3805479"/>
            <a:ext cx="2664266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Analysis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1612960" y="6249078"/>
            <a:ext cx="312919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Construct Generalised Cost Index</a:t>
            </a:r>
          </a:p>
        </p:txBody>
      </p:sp>
      <p:grpSp>
        <p:nvGrpSpPr>
          <p:cNvPr id="108" name="Group 108"/>
          <p:cNvGrpSpPr/>
          <p:nvPr/>
        </p:nvGrpSpPr>
        <p:grpSpPr>
          <a:xfrm rot="-1621114">
            <a:off x="-6849822" y="-1512783"/>
            <a:ext cx="12676189" cy="3497067"/>
            <a:chOff x="0" y="0"/>
            <a:chExt cx="3338585" cy="921038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3338585" cy="921038"/>
            </a:xfrm>
            <a:custGeom>
              <a:avLst/>
              <a:gdLst/>
              <a:ahLst/>
              <a:cxnLst/>
              <a:rect l="l" t="t" r="r" b="b"/>
              <a:pathLst>
                <a:path w="3338585" h="921038">
                  <a:moveTo>
                    <a:pt x="0" y="0"/>
                  </a:moveTo>
                  <a:lnTo>
                    <a:pt x="3338585" y="0"/>
                  </a:lnTo>
                  <a:lnTo>
                    <a:pt x="3338585" y="921038"/>
                  </a:lnTo>
                  <a:lnTo>
                    <a:pt x="0" y="921038"/>
                  </a:lnTo>
                  <a:close/>
                </a:path>
              </a:pathLst>
            </a:custGeom>
            <a:solidFill>
              <a:srgbClr val="2E7D6B">
                <a:alpha val="87843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3338585" cy="959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4291035" y="1873482"/>
            <a:ext cx="9214838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Cardiff study area: 229 LSOAs; final matched sample: 840 staff across 191 LSOAs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284942" y="-499194"/>
            <a:ext cx="4389589" cy="2402303"/>
          </a:xfrm>
          <a:custGeom>
            <a:avLst/>
            <a:gdLst/>
            <a:ahLst/>
            <a:cxnLst/>
            <a:rect l="l" t="t" r="r" b="b"/>
            <a:pathLst>
              <a:path w="4389589" h="2402303">
                <a:moveTo>
                  <a:pt x="0" y="0"/>
                </a:moveTo>
                <a:lnTo>
                  <a:pt x="4389590" y="0"/>
                </a:lnTo>
                <a:lnTo>
                  <a:pt x="4389590" y="2402303"/>
                </a:lnTo>
                <a:lnTo>
                  <a:pt x="0" y="2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3280190">
            <a:off x="-2724767" y="7184309"/>
            <a:ext cx="7315200" cy="1672510"/>
          </a:xfrm>
          <a:custGeom>
            <a:avLst/>
            <a:gdLst/>
            <a:ahLst/>
            <a:cxnLst/>
            <a:rect l="l" t="t" r="r" b="b"/>
            <a:pathLst>
              <a:path w="7315200" h="1672510">
                <a:moveTo>
                  <a:pt x="0" y="0"/>
                </a:moveTo>
                <a:lnTo>
                  <a:pt x="7315200" y="0"/>
                </a:lnTo>
                <a:lnTo>
                  <a:pt x="7315200" y="1672510"/>
                </a:lnTo>
                <a:lnTo>
                  <a:pt x="0" y="1672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 rot="-9858322">
            <a:off x="12435605" y="90564"/>
            <a:ext cx="7315200" cy="1672510"/>
          </a:xfrm>
          <a:custGeom>
            <a:avLst/>
            <a:gdLst/>
            <a:ahLst/>
            <a:cxnLst/>
            <a:rect l="l" t="t" r="r" b="b"/>
            <a:pathLst>
              <a:path w="7315200" h="1672510">
                <a:moveTo>
                  <a:pt x="0" y="0"/>
                </a:moveTo>
                <a:lnTo>
                  <a:pt x="7315200" y="0"/>
                </a:lnTo>
                <a:lnTo>
                  <a:pt x="7315200" y="1672509"/>
                </a:lnTo>
                <a:lnTo>
                  <a:pt x="0" y="1672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-392888" y="211459"/>
            <a:ext cx="19073776" cy="1061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7"/>
              </a:lnSpc>
              <a:spcBef>
                <a:spcPct val="0"/>
              </a:spcBef>
            </a:pPr>
            <a:r>
              <a:rPr lang="en-US" sz="6191" b="1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Building the Gerneralised Accessibility Cost Index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7429" y="8420805"/>
            <a:ext cx="5842488" cy="196332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3955" y="6249347"/>
            <a:ext cx="6004182" cy="143110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20" y="1653810"/>
            <a:ext cx="16379776" cy="4657646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300592" y="1790944"/>
            <a:ext cx="5705454" cy="943513"/>
            <a:chOff x="0" y="-57150"/>
            <a:chExt cx="1398516" cy="231273"/>
          </a:xfrm>
        </p:grpSpPr>
        <p:sp>
          <p:nvSpPr>
            <p:cNvPr id="10" name="Freeform 10"/>
            <p:cNvSpPr/>
            <p:nvPr/>
          </p:nvSpPr>
          <p:spPr>
            <a:xfrm>
              <a:off x="6213" y="-19902"/>
              <a:ext cx="1392303" cy="174123"/>
            </a:xfrm>
            <a:custGeom>
              <a:avLst/>
              <a:gdLst/>
              <a:ahLst/>
              <a:cxnLst/>
              <a:rect l="l" t="t" r="r" b="b"/>
              <a:pathLst>
                <a:path w="1392303" h="174123">
                  <a:moveTo>
                    <a:pt x="69512" y="0"/>
                  </a:moveTo>
                  <a:lnTo>
                    <a:pt x="1322791" y="0"/>
                  </a:lnTo>
                  <a:cubicBezTo>
                    <a:pt x="1361182" y="0"/>
                    <a:pt x="1392303" y="31122"/>
                    <a:pt x="1392303" y="69512"/>
                  </a:cubicBezTo>
                  <a:lnTo>
                    <a:pt x="1392303" y="104611"/>
                  </a:lnTo>
                  <a:cubicBezTo>
                    <a:pt x="1392303" y="143001"/>
                    <a:pt x="1361182" y="174123"/>
                    <a:pt x="1322791" y="174123"/>
                  </a:cubicBezTo>
                  <a:lnTo>
                    <a:pt x="69512" y="174123"/>
                  </a:lnTo>
                  <a:cubicBezTo>
                    <a:pt x="31122" y="174123"/>
                    <a:pt x="0" y="143001"/>
                    <a:pt x="0" y="104611"/>
                  </a:cubicBezTo>
                  <a:lnTo>
                    <a:pt x="0" y="69512"/>
                  </a:lnTo>
                  <a:cubicBezTo>
                    <a:pt x="0" y="31122"/>
                    <a:pt x="31122" y="0"/>
                    <a:pt x="69512" y="0"/>
                  </a:cubicBezTo>
                  <a:close/>
                </a:path>
              </a:pathLst>
            </a:custGeom>
            <a:solidFill>
              <a:srgbClr val="2C9D8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392303" cy="231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Campus-specific </a:t>
              </a:r>
              <a:r>
                <a:rPr lang="en-US" sz="2399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generalised</a:t>
              </a:r>
              <a:r>
                <a:rPr lang="en-US" sz="23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cost: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2704" y="5468283"/>
            <a:ext cx="6029571" cy="929104"/>
            <a:chOff x="0" y="-40528"/>
            <a:chExt cx="1477964" cy="2277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77964" cy="170591"/>
            </a:xfrm>
            <a:custGeom>
              <a:avLst/>
              <a:gdLst/>
              <a:ahLst/>
              <a:cxnLst/>
              <a:rect l="l" t="t" r="r" b="b"/>
              <a:pathLst>
                <a:path w="1477964" h="170591">
                  <a:moveTo>
                    <a:pt x="65484" y="0"/>
                  </a:moveTo>
                  <a:lnTo>
                    <a:pt x="1412480" y="0"/>
                  </a:lnTo>
                  <a:cubicBezTo>
                    <a:pt x="1448646" y="0"/>
                    <a:pt x="1477964" y="29318"/>
                    <a:pt x="1477964" y="65484"/>
                  </a:cubicBezTo>
                  <a:lnTo>
                    <a:pt x="1477964" y="105108"/>
                  </a:lnTo>
                  <a:cubicBezTo>
                    <a:pt x="1477964" y="141273"/>
                    <a:pt x="1448646" y="170591"/>
                    <a:pt x="1412480" y="170591"/>
                  </a:cubicBezTo>
                  <a:lnTo>
                    <a:pt x="65484" y="170591"/>
                  </a:lnTo>
                  <a:cubicBezTo>
                    <a:pt x="29318" y="170591"/>
                    <a:pt x="0" y="141273"/>
                    <a:pt x="0" y="105108"/>
                  </a:cubicBezTo>
                  <a:lnTo>
                    <a:pt x="0" y="65484"/>
                  </a:lnTo>
                  <a:cubicBezTo>
                    <a:pt x="0" y="29318"/>
                    <a:pt x="29318" y="0"/>
                    <a:pt x="65484" y="0"/>
                  </a:cubicBezTo>
                  <a:close/>
                </a:path>
              </a:pathLst>
            </a:custGeom>
            <a:solidFill>
              <a:srgbClr val="F8BF3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0528"/>
              <a:ext cx="1477964" cy="227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Campus-weighted accessibility index: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97178" y="7539928"/>
            <a:ext cx="3424153" cy="958176"/>
            <a:chOff x="0" y="-57150"/>
            <a:chExt cx="839326" cy="234867"/>
          </a:xfrm>
        </p:grpSpPr>
        <p:sp>
          <p:nvSpPr>
            <p:cNvPr id="16" name="Freeform 16"/>
            <p:cNvSpPr/>
            <p:nvPr/>
          </p:nvSpPr>
          <p:spPr>
            <a:xfrm>
              <a:off x="0" y="-16866"/>
              <a:ext cx="839326" cy="177717"/>
            </a:xfrm>
            <a:custGeom>
              <a:avLst/>
              <a:gdLst/>
              <a:ahLst/>
              <a:cxnLst/>
              <a:rect l="l" t="t" r="r" b="b"/>
              <a:pathLst>
                <a:path w="839326" h="177717">
                  <a:moveTo>
                    <a:pt x="88859" y="0"/>
                  </a:moveTo>
                  <a:lnTo>
                    <a:pt x="750467" y="0"/>
                  </a:lnTo>
                  <a:cubicBezTo>
                    <a:pt x="774034" y="0"/>
                    <a:pt x="796635" y="9362"/>
                    <a:pt x="813299" y="26026"/>
                  </a:cubicBezTo>
                  <a:cubicBezTo>
                    <a:pt x="829964" y="42690"/>
                    <a:pt x="839326" y="65292"/>
                    <a:pt x="839326" y="88859"/>
                  </a:cubicBezTo>
                  <a:lnTo>
                    <a:pt x="839326" y="88859"/>
                  </a:lnTo>
                  <a:cubicBezTo>
                    <a:pt x="839326" y="137934"/>
                    <a:pt x="799542" y="177717"/>
                    <a:pt x="750467" y="177717"/>
                  </a:cubicBezTo>
                  <a:lnTo>
                    <a:pt x="88859" y="177717"/>
                  </a:lnTo>
                  <a:cubicBezTo>
                    <a:pt x="39783" y="177717"/>
                    <a:pt x="0" y="137934"/>
                    <a:pt x="0" y="88859"/>
                  </a:cubicBezTo>
                  <a:lnTo>
                    <a:pt x="0" y="88859"/>
                  </a:lnTo>
                  <a:cubicBezTo>
                    <a:pt x="0" y="39783"/>
                    <a:pt x="39783" y="0"/>
                    <a:pt x="88859" y="0"/>
                  </a:cubicBezTo>
                  <a:close/>
                </a:path>
              </a:pathLst>
            </a:custGeom>
            <a:solidFill>
              <a:srgbClr val="FF661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839326" cy="234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399" dirty="0" err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Normalised</a:t>
              </a:r>
              <a:r>
                <a:rPr lang="en-US" sz="2399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index:</a:t>
              </a: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621114">
            <a:off x="-6849822" y="-1512783"/>
            <a:ext cx="12676189" cy="3497067"/>
            <a:chOff x="0" y="0"/>
            <a:chExt cx="3338585" cy="921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8585" cy="921038"/>
            </a:xfrm>
            <a:custGeom>
              <a:avLst/>
              <a:gdLst/>
              <a:ahLst/>
              <a:cxnLst/>
              <a:rect l="l" t="t" r="r" b="b"/>
              <a:pathLst>
                <a:path w="3338585" h="921038">
                  <a:moveTo>
                    <a:pt x="0" y="0"/>
                  </a:moveTo>
                  <a:lnTo>
                    <a:pt x="3338585" y="0"/>
                  </a:lnTo>
                  <a:lnTo>
                    <a:pt x="3338585" y="921038"/>
                  </a:lnTo>
                  <a:lnTo>
                    <a:pt x="0" y="921038"/>
                  </a:lnTo>
                  <a:close/>
                </a:path>
              </a:pathLst>
            </a:custGeom>
            <a:solidFill>
              <a:srgbClr val="2E7D6B">
                <a:alpha val="47843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338585" cy="959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9873273" y="3757227"/>
            <a:ext cx="10897491" cy="7532369"/>
            <a:chOff x="0" y="0"/>
            <a:chExt cx="2870121" cy="19838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70121" cy="1983834"/>
            </a:xfrm>
            <a:custGeom>
              <a:avLst/>
              <a:gdLst/>
              <a:ahLst/>
              <a:cxnLst/>
              <a:rect l="l" t="t" r="r" b="b"/>
              <a:pathLst>
                <a:path w="2870121" h="1983834">
                  <a:moveTo>
                    <a:pt x="0" y="0"/>
                  </a:moveTo>
                  <a:lnTo>
                    <a:pt x="2870121" y="0"/>
                  </a:lnTo>
                  <a:lnTo>
                    <a:pt x="2870121" y="1983834"/>
                  </a:lnTo>
                  <a:lnTo>
                    <a:pt x="0" y="1983834"/>
                  </a:lnTo>
                  <a:close/>
                </a:path>
              </a:pathLst>
            </a:custGeom>
            <a:solidFill>
              <a:srgbClr val="D9D9D9">
                <a:alpha val="62745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70121" cy="2021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937598" y="1288558"/>
            <a:ext cx="11559485" cy="7946719"/>
          </a:xfrm>
          <a:custGeom>
            <a:avLst/>
            <a:gdLst/>
            <a:ahLst/>
            <a:cxnLst/>
            <a:rect l="l" t="t" r="r" b="b"/>
            <a:pathLst>
              <a:path w="9984825" h="6747932">
                <a:moveTo>
                  <a:pt x="0" y="0"/>
                </a:moveTo>
                <a:lnTo>
                  <a:pt x="9984825" y="0"/>
                </a:lnTo>
                <a:lnTo>
                  <a:pt x="9984825" y="6747932"/>
                </a:lnTo>
                <a:lnTo>
                  <a:pt x="0" y="6747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97"/>
            </a:stretch>
          </a:blipFill>
          <a:ln w="76200" cap="sq">
            <a:solidFill>
              <a:srgbClr val="1F5A4E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 rot="-9858322">
            <a:off x="12593968" y="-228447"/>
            <a:ext cx="7315200" cy="1672510"/>
          </a:xfrm>
          <a:custGeom>
            <a:avLst/>
            <a:gdLst/>
            <a:ahLst/>
            <a:cxnLst/>
            <a:rect l="l" t="t" r="r" b="b"/>
            <a:pathLst>
              <a:path w="7315200" h="1672510">
                <a:moveTo>
                  <a:pt x="0" y="0"/>
                </a:moveTo>
                <a:lnTo>
                  <a:pt x="7315200" y="0"/>
                </a:lnTo>
                <a:lnTo>
                  <a:pt x="7315200" y="1672510"/>
                </a:lnTo>
                <a:lnTo>
                  <a:pt x="0" y="1672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17259300" y="0"/>
            <a:ext cx="4389589" cy="2402303"/>
          </a:xfrm>
          <a:custGeom>
            <a:avLst/>
            <a:gdLst/>
            <a:ahLst/>
            <a:cxnLst/>
            <a:rect l="l" t="t" r="r" b="b"/>
            <a:pathLst>
              <a:path w="4389589" h="2402303">
                <a:moveTo>
                  <a:pt x="0" y="0"/>
                </a:moveTo>
                <a:lnTo>
                  <a:pt x="4389589" y="0"/>
                </a:lnTo>
                <a:lnTo>
                  <a:pt x="4389589" y="2402303"/>
                </a:lnTo>
                <a:lnTo>
                  <a:pt x="0" y="2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771677" y="94995"/>
            <a:ext cx="16922800" cy="1219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Spatial Distribution of Accessibility Cost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30867" y="9258300"/>
            <a:ext cx="11204420" cy="768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5"/>
              </a:lnSpc>
              <a:spcBef>
                <a:spcPct val="0"/>
              </a:spcBef>
            </a:pPr>
            <a:r>
              <a:rPr lang="en-US" sz="219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Figure 1.</a:t>
            </a:r>
            <a:r>
              <a:rPr lang="en-US" sz="219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Spatial distribution of the </a:t>
            </a:r>
            <a:r>
              <a:rPr lang="en-US" sz="2196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normalised</a:t>
            </a:r>
            <a:r>
              <a:rPr lang="en-US" sz="219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accessibility cost index across Cardiff LSOAs, with campus locations)</a:t>
            </a:r>
          </a:p>
        </p:txBody>
      </p:sp>
      <p:grpSp>
        <p:nvGrpSpPr>
          <p:cNvPr id="13" name="Group 13"/>
          <p:cNvGrpSpPr/>
          <p:nvPr/>
        </p:nvGrpSpPr>
        <p:grpSpPr>
          <a:xfrm rot="-1621114">
            <a:off x="12224433" y="8079220"/>
            <a:ext cx="12676189" cy="3497067"/>
            <a:chOff x="0" y="0"/>
            <a:chExt cx="3338585" cy="9210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38585" cy="921038"/>
            </a:xfrm>
            <a:custGeom>
              <a:avLst/>
              <a:gdLst/>
              <a:ahLst/>
              <a:cxnLst/>
              <a:rect l="l" t="t" r="r" b="b"/>
              <a:pathLst>
                <a:path w="3338585" h="921038">
                  <a:moveTo>
                    <a:pt x="0" y="0"/>
                  </a:moveTo>
                  <a:lnTo>
                    <a:pt x="3338585" y="0"/>
                  </a:lnTo>
                  <a:lnTo>
                    <a:pt x="3338585" y="921038"/>
                  </a:lnTo>
                  <a:lnTo>
                    <a:pt x="0" y="921038"/>
                  </a:lnTo>
                  <a:close/>
                </a:path>
              </a:pathLst>
            </a:custGeom>
            <a:solidFill>
              <a:srgbClr val="2E7D6B">
                <a:alpha val="47843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338585" cy="959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C9B2224-7E6A-C924-5576-57F9DD625ECD}"/>
              </a:ext>
            </a:extLst>
          </p:cNvPr>
          <p:cNvSpPr txBox="1"/>
          <p:nvPr/>
        </p:nvSpPr>
        <p:spPr>
          <a:xfrm>
            <a:off x="14878429" y="4433819"/>
            <a:ext cx="3651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£14.90 vs £12.59</a:t>
            </a:r>
            <a:endParaRPr lang="en-GB" sz="28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4881" y="-1815996"/>
            <a:ext cx="4389589" cy="2402303"/>
          </a:xfrm>
          <a:custGeom>
            <a:avLst/>
            <a:gdLst/>
            <a:ahLst/>
            <a:cxnLst/>
            <a:rect l="l" t="t" r="r" b="b"/>
            <a:pathLst>
              <a:path w="4389589" h="2402303">
                <a:moveTo>
                  <a:pt x="0" y="0"/>
                </a:moveTo>
                <a:lnTo>
                  <a:pt x="4389589" y="0"/>
                </a:lnTo>
                <a:lnTo>
                  <a:pt x="4389589" y="2402303"/>
                </a:lnTo>
                <a:lnTo>
                  <a:pt x="0" y="2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 rot="-1177486">
            <a:off x="15426802" y="-2854601"/>
            <a:ext cx="9354104" cy="2932507"/>
            <a:chOff x="0" y="0"/>
            <a:chExt cx="2463632" cy="772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3632" cy="772347"/>
            </a:xfrm>
            <a:custGeom>
              <a:avLst/>
              <a:gdLst/>
              <a:ahLst/>
              <a:cxnLst/>
              <a:rect l="l" t="t" r="r" b="b"/>
              <a:pathLst>
                <a:path w="2463632" h="772347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2E7D6B">
                <a:alpha val="94902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699999">
            <a:off x="12116708" y="-2276729"/>
            <a:ext cx="9354104" cy="2932507"/>
            <a:chOff x="0" y="0"/>
            <a:chExt cx="2463632" cy="7723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632" cy="772347"/>
            </a:xfrm>
            <a:custGeom>
              <a:avLst/>
              <a:gdLst/>
              <a:ahLst/>
              <a:cxnLst/>
              <a:rect l="l" t="t" r="r" b="b"/>
              <a:pathLst>
                <a:path w="2463632" h="772347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2E7D6B">
                <a:alpha val="62745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-220087" y="145956"/>
            <a:ext cx="18288000" cy="109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94"/>
              </a:lnSpc>
              <a:spcBef>
                <a:spcPct val="0"/>
              </a:spcBef>
            </a:pPr>
            <a:r>
              <a:rPr lang="en-US" sz="6352" b="1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Accessibility Cost, Deprivation and Car Use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630463" y="4679076"/>
            <a:ext cx="7628837" cy="5236871"/>
            <a:chOff x="0" y="0"/>
            <a:chExt cx="10171782" cy="698249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0080833" cy="6323443"/>
              <a:chOff x="0" y="0"/>
              <a:chExt cx="2466104" cy="154692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66104" cy="1546922"/>
              </a:xfrm>
              <a:custGeom>
                <a:avLst/>
                <a:gdLst/>
                <a:ahLst/>
                <a:cxnLst/>
                <a:rect l="l" t="t" r="r" b="b"/>
                <a:pathLst>
                  <a:path w="2466104" h="1546922">
                    <a:moveTo>
                      <a:pt x="0" y="0"/>
                    </a:moveTo>
                    <a:lnTo>
                      <a:pt x="2466104" y="0"/>
                    </a:lnTo>
                    <a:lnTo>
                      <a:pt x="2466104" y="1546922"/>
                    </a:lnTo>
                    <a:lnTo>
                      <a:pt x="0" y="15469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A53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2466104" cy="1604072"/>
              </a:xfrm>
              <a:prstGeom prst="rect">
                <a:avLst/>
              </a:prstGeom>
            </p:spPr>
            <p:txBody>
              <a:bodyPr lIns="49490" tIns="49490" rIns="49490" bIns="4949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92679" y="125651"/>
              <a:ext cx="9879103" cy="6174440"/>
            </a:xfrm>
            <a:custGeom>
              <a:avLst/>
              <a:gdLst/>
              <a:ahLst/>
              <a:cxnLst/>
              <a:rect l="l" t="t" r="r" b="b"/>
              <a:pathLst>
                <a:path w="9879103" h="6174440">
                  <a:moveTo>
                    <a:pt x="0" y="0"/>
                  </a:moveTo>
                  <a:lnTo>
                    <a:pt x="9879103" y="0"/>
                  </a:lnTo>
                  <a:lnTo>
                    <a:pt x="9879103" y="6174439"/>
                  </a:lnTo>
                  <a:lnTo>
                    <a:pt x="0" y="6174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294868"/>
              <a:ext cx="10005099" cy="687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55"/>
                </a:lnSpc>
                <a:spcBef>
                  <a:spcPct val="0"/>
                </a:spcBef>
              </a:pPr>
              <a:r>
                <a:rPr lang="en-US" sz="1539" b="1">
                  <a:solidFill>
                    <a:srgbClr val="263D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Figure 3. </a:t>
              </a:r>
              <a:r>
                <a:rPr lang="en-US" sz="1539">
                  <a:solidFill>
                    <a:srgbClr val="263D3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Mean driving frequency by accessibility cost quar-</a:t>
              </a:r>
            </a:p>
            <a:p>
              <a:pPr algn="ctr">
                <a:lnSpc>
                  <a:spcPts val="2155"/>
                </a:lnSpc>
                <a:spcBef>
                  <a:spcPct val="0"/>
                </a:spcBef>
              </a:pPr>
              <a:r>
                <a:rPr lang="en-US" sz="1539">
                  <a:solidFill>
                    <a:srgbClr val="263D3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tile, with standard error bar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3052" y="4679076"/>
            <a:ext cx="7583368" cy="5263581"/>
            <a:chOff x="0" y="0"/>
            <a:chExt cx="10111157" cy="701810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111157" cy="6342464"/>
              <a:chOff x="0" y="0"/>
              <a:chExt cx="2466104" cy="154692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466104" cy="1546922"/>
              </a:xfrm>
              <a:custGeom>
                <a:avLst/>
                <a:gdLst/>
                <a:ahLst/>
                <a:cxnLst/>
                <a:rect l="l" t="t" r="r" b="b"/>
                <a:pathLst>
                  <a:path w="2466104" h="1546922">
                    <a:moveTo>
                      <a:pt x="0" y="0"/>
                    </a:moveTo>
                    <a:lnTo>
                      <a:pt x="2466104" y="0"/>
                    </a:lnTo>
                    <a:lnTo>
                      <a:pt x="2466104" y="1546922"/>
                    </a:lnTo>
                    <a:lnTo>
                      <a:pt x="0" y="1546922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1A534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2466104" cy="16040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75491" y="0"/>
              <a:ext cx="9935666" cy="6209791"/>
            </a:xfrm>
            <a:custGeom>
              <a:avLst/>
              <a:gdLst/>
              <a:ahLst/>
              <a:cxnLst/>
              <a:rect l="l" t="t" r="r" b="b"/>
              <a:pathLst>
                <a:path w="9935666" h="6209791">
                  <a:moveTo>
                    <a:pt x="0" y="0"/>
                  </a:moveTo>
                  <a:lnTo>
                    <a:pt x="9935666" y="0"/>
                  </a:lnTo>
                  <a:lnTo>
                    <a:pt x="9935666" y="6209791"/>
                  </a:lnTo>
                  <a:lnTo>
                    <a:pt x="0" y="6209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313889"/>
              <a:ext cx="10035195" cy="704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62"/>
                </a:lnSpc>
                <a:spcBef>
                  <a:spcPct val="0"/>
                </a:spcBef>
              </a:pPr>
              <a:r>
                <a:rPr lang="en-US" sz="1544" b="1" dirty="0">
                  <a:solidFill>
                    <a:srgbClr val="263D35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Figure 2. </a:t>
              </a:r>
              <a:r>
                <a:rPr lang="en-US" sz="1544" dirty="0">
                  <a:solidFill>
                    <a:srgbClr val="263D3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Interaction plot of accessibility cost and driving frequency by deprivation band.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00100" y="1811785"/>
            <a:ext cx="2119300" cy="429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u="sng" dirty="0">
                <a:latin typeface="Roboto Bold"/>
                <a:ea typeface="Roboto Bold"/>
                <a:cs typeface="Roboto Bold"/>
                <a:sym typeface="Roboto Bold"/>
              </a:rPr>
              <a:t>Key results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44013" y="3093251"/>
            <a:ext cx="8015287" cy="382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Accessibility cost had the strongest association with SOC.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0100" y="3097301"/>
            <a:ext cx="6186487" cy="368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Overall relationship was positive but modest: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84" y="3297986"/>
            <a:ext cx="3602713" cy="87435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4881" y="-1815996"/>
            <a:ext cx="4389589" cy="2402303"/>
          </a:xfrm>
          <a:custGeom>
            <a:avLst/>
            <a:gdLst/>
            <a:ahLst/>
            <a:cxnLst/>
            <a:rect l="l" t="t" r="r" b="b"/>
            <a:pathLst>
              <a:path w="4389589" h="2402303">
                <a:moveTo>
                  <a:pt x="0" y="0"/>
                </a:moveTo>
                <a:lnTo>
                  <a:pt x="4389589" y="0"/>
                </a:lnTo>
                <a:lnTo>
                  <a:pt x="4389589" y="2402303"/>
                </a:lnTo>
                <a:lnTo>
                  <a:pt x="0" y="2402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 rot="-1177486">
            <a:off x="15426802" y="-2854601"/>
            <a:ext cx="9354104" cy="2932507"/>
            <a:chOff x="0" y="0"/>
            <a:chExt cx="2463632" cy="7723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63632" cy="772347"/>
            </a:xfrm>
            <a:custGeom>
              <a:avLst/>
              <a:gdLst/>
              <a:ahLst/>
              <a:cxnLst/>
              <a:rect l="l" t="t" r="r" b="b"/>
              <a:pathLst>
                <a:path w="2463632" h="772347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2E7D6B">
                <a:alpha val="94902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699999">
            <a:off x="12116708" y="-2276729"/>
            <a:ext cx="9354104" cy="2932507"/>
            <a:chOff x="0" y="0"/>
            <a:chExt cx="2463632" cy="7723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632" cy="772347"/>
            </a:xfrm>
            <a:custGeom>
              <a:avLst/>
              <a:gdLst/>
              <a:ahLst/>
              <a:cxnLst/>
              <a:rect l="l" t="t" r="r" b="b"/>
              <a:pathLst>
                <a:path w="2463632" h="772347">
                  <a:moveTo>
                    <a:pt x="0" y="0"/>
                  </a:moveTo>
                  <a:lnTo>
                    <a:pt x="2463632" y="0"/>
                  </a:lnTo>
                  <a:lnTo>
                    <a:pt x="2463632" y="772347"/>
                  </a:lnTo>
                  <a:lnTo>
                    <a:pt x="0" y="772347"/>
                  </a:lnTo>
                  <a:close/>
                </a:path>
              </a:pathLst>
            </a:custGeom>
            <a:solidFill>
              <a:srgbClr val="2E7D6B">
                <a:alpha val="62745"/>
              </a:srgbClr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632" cy="810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-340705" y="3057065"/>
            <a:ext cx="69489" cy="5559097"/>
          </a:xfrm>
          <a:custGeom>
            <a:avLst/>
            <a:gdLst/>
            <a:ahLst/>
            <a:cxnLst/>
            <a:rect l="l" t="t" r="r" b="b"/>
            <a:pathLst>
              <a:path w="69489" h="5559097">
                <a:moveTo>
                  <a:pt x="0" y="0"/>
                </a:moveTo>
                <a:lnTo>
                  <a:pt x="69489" y="0"/>
                </a:lnTo>
                <a:lnTo>
                  <a:pt x="69489" y="5559097"/>
                </a:lnTo>
                <a:lnTo>
                  <a:pt x="0" y="5559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5289740" y="5048250"/>
            <a:ext cx="7666704" cy="771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2"/>
              </a:lnSpc>
              <a:spcBef>
                <a:spcPct val="0"/>
              </a:spcBef>
            </a:pPr>
            <a:r>
              <a:rPr lang="en-US" sz="4458" b="1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Future research: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55569" y="6646204"/>
            <a:ext cx="5970148" cy="659466"/>
            <a:chOff x="0" y="0"/>
            <a:chExt cx="1619816" cy="1789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19816" cy="178926"/>
            </a:xfrm>
            <a:custGeom>
              <a:avLst/>
              <a:gdLst/>
              <a:ahLst/>
              <a:cxnLst/>
              <a:rect l="l" t="t" r="r" b="b"/>
              <a:pathLst>
                <a:path w="1619816" h="178926">
                  <a:moveTo>
                    <a:pt x="22045" y="0"/>
                  </a:moveTo>
                  <a:lnTo>
                    <a:pt x="1597771" y="0"/>
                  </a:lnTo>
                  <a:cubicBezTo>
                    <a:pt x="1603617" y="0"/>
                    <a:pt x="1609225" y="2323"/>
                    <a:pt x="1613359" y="6457"/>
                  </a:cubicBezTo>
                  <a:cubicBezTo>
                    <a:pt x="1617493" y="10591"/>
                    <a:pt x="1619816" y="16198"/>
                    <a:pt x="1619816" y="22045"/>
                  </a:cubicBezTo>
                  <a:lnTo>
                    <a:pt x="1619816" y="156881"/>
                  </a:lnTo>
                  <a:cubicBezTo>
                    <a:pt x="1619816" y="169056"/>
                    <a:pt x="1609946" y="178926"/>
                    <a:pt x="1597771" y="178926"/>
                  </a:cubicBezTo>
                  <a:lnTo>
                    <a:pt x="22045" y="178926"/>
                  </a:lnTo>
                  <a:cubicBezTo>
                    <a:pt x="9870" y="178926"/>
                    <a:pt x="0" y="169056"/>
                    <a:pt x="0" y="156881"/>
                  </a:cubicBezTo>
                  <a:lnTo>
                    <a:pt x="0" y="22045"/>
                  </a:lnTo>
                  <a:cubicBezTo>
                    <a:pt x="0" y="9870"/>
                    <a:pt x="9870" y="0"/>
                    <a:pt x="22045" y="0"/>
                  </a:cubicBezTo>
                  <a:close/>
                </a:path>
              </a:pathLst>
            </a:custGeom>
            <a:solidFill>
              <a:srgbClr val="44AA93"/>
            </a:solidFill>
            <a:ln w="38100" cap="sq">
              <a:solidFill>
                <a:srgbClr val="263D35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619816" cy="236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61336" lvl="1" indent="-280668" algn="ctr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Real-time transport data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9402" y="7915830"/>
            <a:ext cx="5970148" cy="659466"/>
            <a:chOff x="0" y="0"/>
            <a:chExt cx="1619816" cy="1789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19816" cy="178926"/>
            </a:xfrm>
            <a:custGeom>
              <a:avLst/>
              <a:gdLst/>
              <a:ahLst/>
              <a:cxnLst/>
              <a:rect l="l" t="t" r="r" b="b"/>
              <a:pathLst>
                <a:path w="1619816" h="178926">
                  <a:moveTo>
                    <a:pt x="22045" y="0"/>
                  </a:moveTo>
                  <a:lnTo>
                    <a:pt x="1597771" y="0"/>
                  </a:lnTo>
                  <a:cubicBezTo>
                    <a:pt x="1603617" y="0"/>
                    <a:pt x="1609225" y="2323"/>
                    <a:pt x="1613359" y="6457"/>
                  </a:cubicBezTo>
                  <a:cubicBezTo>
                    <a:pt x="1617493" y="10591"/>
                    <a:pt x="1619816" y="16198"/>
                    <a:pt x="1619816" y="22045"/>
                  </a:cubicBezTo>
                  <a:lnTo>
                    <a:pt x="1619816" y="156881"/>
                  </a:lnTo>
                  <a:cubicBezTo>
                    <a:pt x="1619816" y="169056"/>
                    <a:pt x="1609946" y="178926"/>
                    <a:pt x="1597771" y="178926"/>
                  </a:cubicBezTo>
                  <a:lnTo>
                    <a:pt x="22045" y="178926"/>
                  </a:lnTo>
                  <a:cubicBezTo>
                    <a:pt x="9870" y="178926"/>
                    <a:pt x="0" y="169056"/>
                    <a:pt x="0" y="156881"/>
                  </a:cubicBezTo>
                  <a:lnTo>
                    <a:pt x="0" y="22045"/>
                  </a:lnTo>
                  <a:cubicBezTo>
                    <a:pt x="0" y="9870"/>
                    <a:pt x="9870" y="0"/>
                    <a:pt x="22045" y="0"/>
                  </a:cubicBezTo>
                  <a:close/>
                </a:path>
              </a:pathLst>
            </a:custGeom>
            <a:solidFill>
              <a:srgbClr val="2E7D6B"/>
            </a:solidFill>
            <a:ln w="38100" cap="sq">
              <a:solidFill>
                <a:srgbClr val="263D35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619816" cy="236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61336" lvl="1" indent="-280668" algn="ctr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Individual constraints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62283" y="6646204"/>
            <a:ext cx="5970148" cy="659466"/>
            <a:chOff x="0" y="0"/>
            <a:chExt cx="1619816" cy="1789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19816" cy="178926"/>
            </a:xfrm>
            <a:custGeom>
              <a:avLst/>
              <a:gdLst/>
              <a:ahLst/>
              <a:cxnLst/>
              <a:rect l="l" t="t" r="r" b="b"/>
              <a:pathLst>
                <a:path w="1619816" h="178926">
                  <a:moveTo>
                    <a:pt x="22045" y="0"/>
                  </a:moveTo>
                  <a:lnTo>
                    <a:pt x="1597771" y="0"/>
                  </a:lnTo>
                  <a:cubicBezTo>
                    <a:pt x="1603617" y="0"/>
                    <a:pt x="1609225" y="2323"/>
                    <a:pt x="1613359" y="6457"/>
                  </a:cubicBezTo>
                  <a:cubicBezTo>
                    <a:pt x="1617493" y="10591"/>
                    <a:pt x="1619816" y="16198"/>
                    <a:pt x="1619816" y="22045"/>
                  </a:cubicBezTo>
                  <a:lnTo>
                    <a:pt x="1619816" y="156881"/>
                  </a:lnTo>
                  <a:cubicBezTo>
                    <a:pt x="1619816" y="169056"/>
                    <a:pt x="1609946" y="178926"/>
                    <a:pt x="1597771" y="178926"/>
                  </a:cubicBezTo>
                  <a:lnTo>
                    <a:pt x="22045" y="178926"/>
                  </a:lnTo>
                  <a:cubicBezTo>
                    <a:pt x="9870" y="178926"/>
                    <a:pt x="0" y="169056"/>
                    <a:pt x="0" y="156881"/>
                  </a:cubicBezTo>
                  <a:lnTo>
                    <a:pt x="0" y="22045"/>
                  </a:lnTo>
                  <a:cubicBezTo>
                    <a:pt x="0" y="9870"/>
                    <a:pt x="9870" y="0"/>
                    <a:pt x="22045" y="0"/>
                  </a:cubicBezTo>
                  <a:close/>
                </a:path>
              </a:pathLst>
            </a:custGeom>
            <a:solidFill>
              <a:srgbClr val="44AA93"/>
            </a:solidFill>
            <a:ln w="38100" cap="sq">
              <a:solidFill>
                <a:srgbClr val="263D35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619816" cy="236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61336" lvl="1" indent="-280668" algn="ctr">
                <a:lnSpc>
                  <a:spcPts val="3639"/>
                </a:lnSpc>
                <a:buFont typeface="Arial"/>
                <a:buChar char="•"/>
              </a:pPr>
              <a:r>
                <a:rPr lang="en-US" sz="2599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Longtitudinal analysis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8830075" y="6163117"/>
            <a:ext cx="628706" cy="1257413"/>
          </a:xfrm>
          <a:custGeom>
            <a:avLst/>
            <a:gdLst/>
            <a:ahLst/>
            <a:cxnLst/>
            <a:rect l="l" t="t" r="r" b="b"/>
            <a:pathLst>
              <a:path w="628706" h="1257413">
                <a:moveTo>
                  <a:pt x="0" y="0"/>
                </a:moveTo>
                <a:lnTo>
                  <a:pt x="628707" y="0"/>
                </a:lnTo>
                <a:lnTo>
                  <a:pt x="628707" y="1257413"/>
                </a:lnTo>
                <a:lnTo>
                  <a:pt x="0" y="12574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/>
          <p:nvPr/>
        </p:nvSpPr>
        <p:spPr>
          <a:xfrm rot="3278784">
            <a:off x="6002396" y="5673378"/>
            <a:ext cx="489739" cy="979478"/>
          </a:xfrm>
          <a:custGeom>
            <a:avLst/>
            <a:gdLst/>
            <a:ahLst/>
            <a:cxnLst/>
            <a:rect l="l" t="t" r="r" b="b"/>
            <a:pathLst>
              <a:path w="489739" h="979478">
                <a:moveTo>
                  <a:pt x="0" y="0"/>
                </a:moveTo>
                <a:lnTo>
                  <a:pt x="489739" y="0"/>
                </a:lnTo>
                <a:lnTo>
                  <a:pt x="489739" y="979478"/>
                </a:lnTo>
                <a:lnTo>
                  <a:pt x="0" y="9794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/>
          <p:nvPr/>
        </p:nvSpPr>
        <p:spPr>
          <a:xfrm rot="-3493974">
            <a:off x="11502503" y="5690447"/>
            <a:ext cx="489739" cy="979478"/>
          </a:xfrm>
          <a:custGeom>
            <a:avLst/>
            <a:gdLst/>
            <a:ahLst/>
            <a:cxnLst/>
            <a:rect l="l" t="t" r="r" b="b"/>
            <a:pathLst>
              <a:path w="489739" h="979478">
                <a:moveTo>
                  <a:pt x="0" y="0"/>
                </a:moveTo>
                <a:lnTo>
                  <a:pt x="489739" y="0"/>
                </a:lnTo>
                <a:lnTo>
                  <a:pt x="489739" y="979478"/>
                </a:lnTo>
                <a:lnTo>
                  <a:pt x="0" y="9794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TextBox 23"/>
          <p:cNvSpPr txBox="1"/>
          <p:nvPr/>
        </p:nvSpPr>
        <p:spPr>
          <a:xfrm>
            <a:off x="599167" y="8994396"/>
            <a:ext cx="17090523" cy="108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Overall: </a:t>
            </a:r>
            <a:r>
              <a:rPr lang="en-US" sz="30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Sustainable travel policy should reduce actual journey burden, not just increase transport provision</a:t>
            </a:r>
            <a:r>
              <a:rPr lang="en-US" sz="3099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24" name="Freeform 24"/>
          <p:cNvSpPr/>
          <p:nvPr/>
        </p:nvSpPr>
        <p:spPr>
          <a:xfrm rot="5400000">
            <a:off x="18559216" y="2987577"/>
            <a:ext cx="69489" cy="5559097"/>
          </a:xfrm>
          <a:custGeom>
            <a:avLst/>
            <a:gdLst/>
            <a:ahLst/>
            <a:cxnLst/>
            <a:rect l="l" t="t" r="r" b="b"/>
            <a:pathLst>
              <a:path w="69489" h="5559097">
                <a:moveTo>
                  <a:pt x="0" y="0"/>
                </a:moveTo>
                <a:lnTo>
                  <a:pt x="69489" y="0"/>
                </a:lnTo>
                <a:lnTo>
                  <a:pt x="69489" y="5559096"/>
                </a:lnTo>
                <a:lnTo>
                  <a:pt x="0" y="55590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5" name="TextBox 25"/>
          <p:cNvSpPr txBox="1"/>
          <p:nvPr/>
        </p:nvSpPr>
        <p:spPr>
          <a:xfrm>
            <a:off x="9994012" y="2062837"/>
            <a:ext cx="6578600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Limitations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 live journey data.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Small sample frame.</a:t>
            </a:r>
          </a:p>
          <a:p>
            <a:pPr marL="302259" lvl="1" algn="l">
              <a:lnSpc>
                <a:spcPts val="3919"/>
              </a:lnSpc>
              <a:spcBef>
                <a:spcPct val="0"/>
              </a:spcBef>
            </a:pPr>
            <a:endParaRPr lang="en-US" sz="2799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2062837"/>
            <a:ext cx="8076685" cy="246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Contribution</a:t>
            </a: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Built a route-based </a:t>
            </a:r>
            <a:r>
              <a:rPr lang="en-US" sz="279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generalised</a:t>
            </a:r>
            <a:r>
              <a:rPr lang="en-US" sz="27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cost index.</a:t>
            </a: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Index outperforms simple measures.</a:t>
            </a: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Heath Park has higher cost.</a:t>
            </a:r>
          </a:p>
          <a:p>
            <a:pPr marL="604515" lvl="1" indent="-302257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Higher cost -&gt; SOC driving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7750" y="443432"/>
            <a:ext cx="16755269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263D35"/>
                </a:solidFill>
                <a:latin typeface="Roboto Bold"/>
                <a:ea typeface="Roboto Bold"/>
                <a:cs typeface="Roboto Bold"/>
                <a:sym typeface="Roboto Bold"/>
              </a:rPr>
              <a:t>Conclusions, Contribution and Limitations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 animBg="1"/>
      <p:bldP spid="21" grpId="0" animBg="1"/>
      <p:bldP spid="22" grpId="0" animBg="1"/>
      <p:bldP spid="23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276</Words>
  <Application>Microsoft Office PowerPoint</Application>
  <PresentationFormat>Custom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Roboto Bold</vt:lpstr>
      <vt:lpstr>Calibri</vt:lpstr>
      <vt:lpstr>Canva Sans</vt:lpstr>
      <vt:lpstr>Canva Sans Bold</vt:lpstr>
      <vt:lpstr>Roboto Bold Italics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Research motivation</dc:title>
  <cp:lastModifiedBy>Eve Williamson</cp:lastModifiedBy>
  <cp:revision>4</cp:revision>
  <dcterms:created xsi:type="dcterms:W3CDTF">2006-08-16T00:00:00Z</dcterms:created>
  <dcterms:modified xsi:type="dcterms:W3CDTF">2026-06-03T09:13:03Z</dcterms:modified>
  <dc:identifier>DAHI7S8HTlo</dc:identifier>
</cp:coreProperties>
</file>